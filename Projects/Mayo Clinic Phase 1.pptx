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9" r:id="rId4"/>
    <p:sldId id="276" r:id="rId5"/>
    <p:sldId id="277" r:id="rId6"/>
    <p:sldId id="273" r:id="rId7"/>
    <p:sldId id="279" r:id="rId8"/>
    <p:sldId id="278" r:id="rId9"/>
    <p:sldId id="260" r:id="rId10"/>
    <p:sldId id="2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1B511D-70A2-0DDD-A60E-556067CDC254}" v="141" dt="2024-12-02T11:08:18.5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4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D60141-EEBD-4EC1-8E34-0344C16A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18308" y="0"/>
            <a:ext cx="6873692" cy="6858000"/>
          </a:xfrm>
          <a:custGeom>
            <a:avLst/>
            <a:gdLst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0 w 12192000"/>
              <a:gd name="connsiteY6" fmla="*/ 0 h 6858000"/>
              <a:gd name="connsiteX7" fmla="*/ 6700 w 12192000"/>
              <a:gd name="connsiteY7" fmla="*/ 0 h 6858000"/>
              <a:gd name="connsiteX8" fmla="*/ 6700 w 12192000"/>
              <a:gd name="connsiteY8" fmla="*/ 6858000 h 6858000"/>
              <a:gd name="connsiteX9" fmla="*/ 0 w 12192000"/>
              <a:gd name="connsiteY9" fmla="*/ 6858000 h 6858000"/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11328900 w 12192000"/>
              <a:gd name="connsiteY6" fmla="*/ 0 h 6858000"/>
              <a:gd name="connsiteX7" fmla="*/ 0 w 12192000"/>
              <a:gd name="connsiteY7" fmla="*/ 6858000 h 6858000"/>
              <a:gd name="connsiteX8" fmla="*/ 6700 w 12192000"/>
              <a:gd name="connsiteY8" fmla="*/ 0 h 6858000"/>
              <a:gd name="connsiteX9" fmla="*/ 6700 w 12192000"/>
              <a:gd name="connsiteY9" fmla="*/ 6858000 h 6858000"/>
              <a:gd name="connsiteX10" fmla="*/ 0 w 12192000"/>
              <a:gd name="connsiteY10" fmla="*/ 6858000 h 6858000"/>
              <a:gd name="connsiteX0" fmla="*/ 11322200 w 12185300"/>
              <a:gd name="connsiteY0" fmla="*/ 0 h 6858000"/>
              <a:gd name="connsiteX1" fmla="*/ 12185300 w 12185300"/>
              <a:gd name="connsiteY1" fmla="*/ 0 h 6858000"/>
              <a:gd name="connsiteX2" fmla="*/ 12185300 w 12185300"/>
              <a:gd name="connsiteY2" fmla="*/ 6858000 h 6858000"/>
              <a:gd name="connsiteX3" fmla="*/ 5311608 w 12185300"/>
              <a:gd name="connsiteY3" fmla="*/ 6858000 h 6858000"/>
              <a:gd name="connsiteX4" fmla="*/ 11322197 w 12185300"/>
              <a:gd name="connsiteY4" fmla="*/ 4 h 6858000"/>
              <a:gd name="connsiteX5" fmla="*/ 11322198 w 12185300"/>
              <a:gd name="connsiteY5" fmla="*/ 2 h 6858000"/>
              <a:gd name="connsiteX6" fmla="*/ 11322200 w 12185300"/>
              <a:gd name="connsiteY6" fmla="*/ 0 h 6858000"/>
              <a:gd name="connsiteX7" fmla="*/ 0 w 12185300"/>
              <a:gd name="connsiteY7" fmla="*/ 6858000 h 6858000"/>
              <a:gd name="connsiteX8" fmla="*/ 0 w 12185300"/>
              <a:gd name="connsiteY8" fmla="*/ 0 h 6858000"/>
              <a:gd name="connsiteX9" fmla="*/ 0 w 12185300"/>
              <a:gd name="connsiteY9" fmla="*/ 6858000 h 6858000"/>
              <a:gd name="connsiteX0" fmla="*/ 6010592 w 6873692"/>
              <a:gd name="connsiteY0" fmla="*/ 0 h 6858000"/>
              <a:gd name="connsiteX1" fmla="*/ 6873692 w 6873692"/>
              <a:gd name="connsiteY1" fmla="*/ 0 h 6858000"/>
              <a:gd name="connsiteX2" fmla="*/ 6873692 w 6873692"/>
              <a:gd name="connsiteY2" fmla="*/ 6858000 h 6858000"/>
              <a:gd name="connsiteX3" fmla="*/ 0 w 6873692"/>
              <a:gd name="connsiteY3" fmla="*/ 6858000 h 6858000"/>
              <a:gd name="connsiteX4" fmla="*/ 6010589 w 6873692"/>
              <a:gd name="connsiteY4" fmla="*/ 4 h 6858000"/>
              <a:gd name="connsiteX5" fmla="*/ 6010590 w 6873692"/>
              <a:gd name="connsiteY5" fmla="*/ 2 h 6858000"/>
              <a:gd name="connsiteX6" fmla="*/ 6010592 w 687369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FCBBA-905A-4FD1-BFBA-F3EE6DA26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81098"/>
            <a:ext cx="8986580" cy="2832404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48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D287E-F1C8-463F-8429-D1B5B1582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463522"/>
            <a:ext cx="8986580" cy="65031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F44ED-7973-4A99-B2CA-A8962BCE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F96F2-D6BE-49AC-A605-5AE87C3F2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7FC50-B13C-4B63-AE64-F71A6EDE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75A547-BCD1-42BE-966E-53CA0AB93165}"/>
              </a:ext>
            </a:extLst>
          </p:cNvPr>
          <p:cNvCxnSpPr>
            <a:cxnSpLocks/>
          </p:cNvCxnSpPr>
          <p:nvPr/>
        </p:nvCxnSpPr>
        <p:spPr>
          <a:xfrm>
            <a:off x="1188357" y="5151666"/>
            <a:ext cx="98225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7508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CD6F3-88F1-4195-8395-57AA096BB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8D06C-EB08-40B3-AFB3-A62F44112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3962F-B413-4C4C-A490-724DDB9E7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71813-4E87-4C04-835D-76246010B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22BA3-033C-491E-A045-F0052AC1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95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E19AD-2EDD-4B4F-9F9E-46A444184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709738"/>
            <a:ext cx="8520952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E5927-21D5-4EBA-A112-CAD1BD38B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4589466"/>
            <a:ext cx="8520952" cy="81326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F0D16-9D87-4D76-A5A5-534E24B7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5F387-5AAC-45D0-ABCE-B1CF4BC7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F6FE-0006-4F40-A7FB-E0FDBADF7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8AADE-587E-4574-B21B-7ABDE5A23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F9DA5-4DFB-4211-A58A-FFD842C27A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2339501"/>
            <a:ext cx="4798979" cy="35505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99F26-66AF-4614-91CE-C93A24BAC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0020" y="2339501"/>
            <a:ext cx="4798980" cy="35505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F678E-59B5-4DF9-ABCB-506B9CB70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50A53-317B-444A-9BA2-F69CDBF5D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269A1-B0FB-4C8F-B6AA-0718C9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652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2BBBF-42B2-4A5D-B145-46983A530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33272"/>
            <a:ext cx="9905999" cy="84630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4BE44-5271-4B5D-B649-35E3AF20B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2999" y="2067127"/>
            <a:ext cx="4798980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7891E-0C0A-4688-97DD-C0715E322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3001" y="2864795"/>
            <a:ext cx="4798978" cy="30253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5EAF30-3412-49B0-93D1-596CC2695B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018" y="2067127"/>
            <a:ext cx="4798981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07B9B7-F41C-4314-9F0C-BB84547FB8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019" y="2864795"/>
            <a:ext cx="4798982" cy="30253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21587F-6AFC-4906-86EB-6B0A86EE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BE2C5-583B-49BC-9864-B01EEF798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39B236-45F5-4CC6-8D53-A6903A1CC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17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B206-0678-4577-B79F-760526A5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1322615"/>
            <a:ext cx="8175171" cy="42127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5FCB8-AFD3-4801-BBD6-9548F4CF7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DACF8-CBC0-416B-B28E-EE18C4238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0C7421-FF49-4CE9-87D0-2B4FFE0E3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802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19CBFE-15AA-4447-9F9C-D8B0BEB24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48227-EC1E-4063-9682-891A2DB1A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C6A63-C3F4-4563-A542-9A41AC94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165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900C1-FE18-461C-801C-8626C7759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0"/>
            <a:ext cx="3932237" cy="1964986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4CFF3-3406-49E3-9D5A-1BE90FFA5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451" y="987425"/>
            <a:ext cx="542154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D14FF-9082-4BBA-BC7A-F4C5B7859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62464"/>
            <a:ext cx="3932237" cy="2206523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A2726-EB8E-4DF7-9A1B-F03BD8C71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929BE-611C-4FE6-B0A5-E0FF9DF9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90B32-1D0E-4BCD-8850-59EA235F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17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A1460E-1069-4FCA-B04E-28F77C861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13614" y="987425"/>
            <a:ext cx="55353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38C1E-867B-4FE9-8783-9B1246AEB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57601"/>
            <a:ext cx="3932236" cy="2211388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21568-4870-46F2-9F7E-F41070201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3CC65-0E73-45A1-9D4F-3F4559B3B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C58CD-9BC3-431E-A7B4-D596A7F0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8F756-D171-474C-8B1A-C818032F6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1"/>
            <a:ext cx="3932236" cy="1959428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7795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A3BF2-BCE9-47D7-B1C0-1F0E4936B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722E9-C3E4-48AF-996A-495AE659F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9E516-382B-4845-93BF-20C16EE0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96E16-F168-442A-843C-5D490D54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61BEA-A969-437A-BD8B-CB1B709A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10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528449-3E11-45FF-BF3A-651867603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572500" y="870625"/>
            <a:ext cx="2476499" cy="5029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0EAB0-2DFA-4CBA-86B1-1826EF523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43000" y="870625"/>
            <a:ext cx="7324928" cy="5029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22F89-E1F5-45D7-945A-8A2886C4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7E82-5FB8-4289-AD0C-0BA788E1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A4046-1A2C-41F5-A177-1C3919C20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12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1C2F78B-DEE8-4195-A196-DFC51BDADFF9}"/>
              </a:ext>
            </a:extLst>
          </p:cNvPr>
          <p:cNvSpPr/>
          <p:nvPr/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1D79D08-4BE8-4799-BE09-5078DFEE2256}"/>
              </a:ext>
            </a:extLst>
          </p:cNvPr>
          <p:cNvSpPr/>
          <p:nvPr/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5D65A1-16CB-407F-993F-2A6D59BCC0C8}"/>
              </a:ext>
            </a:extLst>
          </p:cNvPr>
          <p:cNvCxnSpPr>
            <a:cxnSpLocks/>
          </p:cNvCxnSpPr>
          <p:nvPr/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A018A2-815D-41B0-A189-FDF7A5E8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5"/>
            <a:ext cx="9905999" cy="1360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FAE63-1276-4C7C-BFF5-F5DF1CDB2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332026"/>
            <a:ext cx="9905999" cy="3567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80268-2D73-487C-843B-51648AE18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8157" y="6356350"/>
            <a:ext cx="30933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3CADBD16-5BFB-4D9F-9646-C75D1B53BBB6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61E6D-D51F-4BD7-B59D-19AF179177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000" y="6356350"/>
            <a:ext cx="39591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701B1-1C93-41C2-AEE1-815DEA51B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23186" y="6356350"/>
            <a:ext cx="6258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C0722274-0FAA-4649-AA4E-4210F4F32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537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029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yo.edu/research/about/overview" TargetMode="External"/><Relationship Id="rId2" Type="http://schemas.openxmlformats.org/officeDocument/2006/relationships/hyperlink" Target="https://www.mayoclinicproceedings.org/content/aboutmayo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ms.gov/about-cms/information-systems/privacy/health-insurance-portability-and-accountability-act-1996#:~:text=The%20Privacy%20Rule%20of%20the,and%20other%20personal%20health%20information. &#8203;" TargetMode="External"/><Relationship Id="rId4" Type="http://schemas.openxmlformats.org/officeDocument/2006/relationships/hyperlink" Target="https://www.mayoclinic.org/about-mayo-clinic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qP4QiyKh4M%20&#8203;" TargetMode="External"/><Relationship Id="rId2" Type="http://schemas.openxmlformats.org/officeDocument/2006/relationships/hyperlink" Target="https://www.nist.gov/itl/smallbusinesscyber/nist-cybersecurity-framework-0%20&#8203;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mayoclinic.org/locations" TargetMode="External"/><Relationship Id="rId4" Type="http://schemas.openxmlformats.org/officeDocument/2006/relationships/hyperlink" Target="https://www.mayoclinic.org/about-mayo-clinic/quality/top-ranked%20&#8203;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70105F5E-5B61-4F51-927C-5B28DB7DD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Neon laser lights aligned to form a triangle">
            <a:extLst>
              <a:ext uri="{FF2B5EF4-FFF2-40B4-BE49-F238E27FC236}">
                <a16:creationId xmlns:a16="http://schemas.microsoft.com/office/drawing/2014/main" id="{4F9E4882-7661-96AB-000C-AA52A813BC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41" r="18718" b="4"/>
          <a:stretch/>
        </p:blipFill>
        <p:spPr>
          <a:xfrm>
            <a:off x="5318308" y="10"/>
            <a:ext cx="6873692" cy="6857990"/>
          </a:xfrm>
          <a:custGeom>
            <a:avLst/>
            <a:gdLst/>
            <a:ahLst/>
            <a:cxnLst/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0891" y="1061686"/>
            <a:ext cx="7214624" cy="3101751"/>
          </a:xfrm>
        </p:spPr>
        <p:txBody>
          <a:bodyPr anchor="t">
            <a:normAutofit/>
          </a:bodyPr>
          <a:lstStyle/>
          <a:p>
            <a:r>
              <a:rPr lang="en-US" sz="6600" dirty="0"/>
              <a:t>Mayo clinic - phase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1" y="4883144"/>
            <a:ext cx="4175308" cy="941926"/>
          </a:xfrm>
        </p:spPr>
        <p:txBody>
          <a:bodyPr anchor="b">
            <a:normAutofit/>
          </a:bodyPr>
          <a:lstStyle/>
          <a:p>
            <a:r>
              <a:rPr lang="en-US"/>
              <a:t>Presented By: </a:t>
            </a:r>
            <a:r>
              <a:rPr lang="en-US">
                <a:ea typeface="+mn-lt"/>
                <a:cs typeface="+mn-lt"/>
              </a:rPr>
              <a:t>Daryl Coston, </a:t>
            </a:r>
            <a:r>
              <a:rPr lang="en-US" err="1">
                <a:ea typeface="+mn-lt"/>
                <a:cs typeface="+mn-lt"/>
              </a:rPr>
              <a:t>Olamikun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Asorona</a:t>
            </a:r>
            <a:r>
              <a:rPr lang="en-US">
                <a:ea typeface="+mn-lt"/>
                <a:cs typeface="+mn-lt"/>
              </a:rPr>
              <a:t>, and Devin Young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C7C2C-B1B7-A842-44DE-366192F35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About Mayo Clinic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61AEA-D7E1-8F48-CAE4-D6DF830B0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Mayo Clinic is the "largest </a:t>
            </a:r>
            <a:r>
              <a:rPr lang="en-US">
                <a:ea typeface="+mn-lt"/>
                <a:cs typeface="+mn-lt"/>
              </a:rPr>
              <a:t>integrated, not-for-profit medical group practice in the world" (About Us, n.d.).</a:t>
            </a:r>
          </a:p>
          <a:p>
            <a:r>
              <a:rPr lang="en-US">
                <a:ea typeface="+mn-lt"/>
                <a:cs typeface="+mn-lt"/>
              </a:rPr>
              <a:t>Top-ranked in more specialties than any other hospital and has been recognized as an Honor Roll member according to U.S. News &amp; World Report's 2024-2025 "Best Hospitals" rankings (Top-ranked Hospital in the U.S. - About Us - Mayo Clinic, n.d.)</a:t>
            </a:r>
          </a:p>
          <a:p>
            <a:r>
              <a:rPr lang="en-US">
                <a:ea typeface="+mn-lt"/>
                <a:cs typeface="+mn-lt"/>
              </a:rPr>
              <a:t>Performs "basic, translational, clinical and epidemiological research at its campuses" (About Mayo Clinic Research, 2024)</a:t>
            </a:r>
          </a:p>
        </p:txBody>
      </p:sp>
    </p:spTree>
    <p:extLst>
      <p:ext uri="{BB962C8B-B14F-4D97-AF65-F5344CB8AC3E}">
        <p14:creationId xmlns:p14="http://schemas.microsoft.com/office/powerpoint/2010/main" val="3832523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C7C2C-B1B7-A842-44DE-366192F35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Mayo Clinic Locations &amp; Network Type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61AEA-D7E1-8F48-CAE4-D6DF830B0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There are 4 buildings located in Arizona (Pheonix &amp; Scottsdale), 9 buildings located in Florida (Jacksonville), more than 30 buildings located in Minnesota (Rochester), including the headquarters, and one building located in London, United Kingdom (U.S. And International Locations, n.d.) </a:t>
            </a:r>
          </a:p>
          <a:p>
            <a:r>
              <a:rPr lang="en-US">
                <a:ea typeface="+mn-lt"/>
                <a:cs typeface="+mn-lt"/>
              </a:rPr>
              <a:t>With Mayo Clinic being geographically spread out, having approximately 65, 000 employees and approximately caring for more than one million people per year (Mayo Clinic Proceedings, 2024), it is considered a wide area network</a:t>
            </a:r>
          </a:p>
        </p:txBody>
      </p:sp>
    </p:spTree>
    <p:extLst>
      <p:ext uri="{BB962C8B-B14F-4D97-AF65-F5344CB8AC3E}">
        <p14:creationId xmlns:p14="http://schemas.microsoft.com/office/powerpoint/2010/main" val="2195664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DAE8B-9F3C-EB19-D4DD-4F5A2EE87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Mayo Clinic's Organizational Chart</a:t>
            </a:r>
            <a:endParaRPr lang="en-US"/>
          </a:p>
        </p:txBody>
      </p:sp>
      <p:pic>
        <p:nvPicPr>
          <p:cNvPr id="4" name="Content Placeholder 3" descr="A screen shot of a phone&#10;&#10;Description automatically generated">
            <a:extLst>
              <a:ext uri="{FF2B5EF4-FFF2-40B4-BE49-F238E27FC236}">
                <a16:creationId xmlns:a16="http://schemas.microsoft.com/office/drawing/2014/main" id="{C7161AB5-4454-30A1-2D44-8B58E65296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0661" y="2233491"/>
            <a:ext cx="1663469" cy="3567118"/>
          </a:xfrm>
        </p:spPr>
      </p:pic>
      <p:pic>
        <p:nvPicPr>
          <p:cNvPr id="5" name="Picture 4" descr="A diagram of a company&#10;&#10;Description automatically generated">
            <a:extLst>
              <a:ext uri="{FF2B5EF4-FFF2-40B4-BE49-F238E27FC236}">
                <a16:creationId xmlns:a16="http://schemas.microsoft.com/office/drawing/2014/main" id="{C8E4020F-EE83-EF29-A0C4-5E6957479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474" y="1951475"/>
            <a:ext cx="4762500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263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4E591-543F-4C04-589C-D8413189B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Mayo Clinic's Network Diagram</a:t>
            </a:r>
          </a:p>
        </p:txBody>
      </p:sp>
      <p:pic>
        <p:nvPicPr>
          <p:cNvPr id="4" name="Content Placeholder 3" descr="A diagram of a computer network&#10;&#10;Description automatically generated">
            <a:extLst>
              <a:ext uri="{FF2B5EF4-FFF2-40B4-BE49-F238E27FC236}">
                <a16:creationId xmlns:a16="http://schemas.microsoft.com/office/drawing/2014/main" id="{252F1CDA-97B8-42C0-ACA0-24DC1F0101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6399" y="2643972"/>
            <a:ext cx="8839200" cy="2943225"/>
          </a:xfrm>
        </p:spPr>
      </p:pic>
    </p:spTree>
    <p:extLst>
      <p:ext uri="{BB962C8B-B14F-4D97-AF65-F5344CB8AC3E}">
        <p14:creationId xmlns:p14="http://schemas.microsoft.com/office/powerpoint/2010/main" val="1278961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2DC4D-3E79-58F6-D3BB-18D2C73C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Core Functions of NIST Cybersecurity Framework</a:t>
            </a:r>
          </a:p>
        </p:txBody>
      </p:sp>
      <p:pic>
        <p:nvPicPr>
          <p:cNvPr id="5" name="Content Placeholder 4" descr="NIST Cybersecurity Framework wheel graphic has external sections labeled Identify, Protect, Detect, Respond and Recover; internal circle is labeled Govern. ">
            <a:extLst>
              <a:ext uri="{FF2B5EF4-FFF2-40B4-BE49-F238E27FC236}">
                <a16:creationId xmlns:a16="http://schemas.microsoft.com/office/drawing/2014/main" id="{903B11F5-A9F4-01B3-381D-E7BA4AE1624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701265" y="2339975"/>
            <a:ext cx="3682482" cy="354965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9FDBCF-5E6A-A4CE-C00A-6EFC79CC28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>
                <a:ea typeface="+mn-lt"/>
                <a:cs typeface="+mn-lt"/>
              </a:rPr>
              <a:t>The NIST Cybersecurity Framework is centered around governing/managing cybersecurity practices, identifying cybersecurity risks and areas of improvements, protecting all assets, detecting cybersecurity attacks, responding to cybersecurity incidents, and recovering from cybersecurity incidents</a:t>
            </a:r>
          </a:p>
          <a:p>
            <a:endParaRPr lang="en-US" sz="1900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BE75A4-4F40-B2E4-FCFB-AF165D989D0D}"/>
              </a:ext>
            </a:extLst>
          </p:cNvPr>
          <p:cNvSpPr txBox="1"/>
          <p:nvPr/>
        </p:nvSpPr>
        <p:spPr>
          <a:xfrm>
            <a:off x="1964120" y="5590189"/>
            <a:ext cx="31622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(Shriram Vasudevan, 2022)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327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54A3A-5CCE-A53C-0BE3-C5B660EEA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Protections of Mayo Clinic's Enterprise Infrastructure</a:t>
            </a:r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79CA0BBC-18AB-1A67-9ACA-4B6F5D9668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4800" y="2417423"/>
            <a:ext cx="3905055" cy="3567118"/>
          </a:xfrm>
        </p:spPr>
      </p:pic>
      <p:pic>
        <p:nvPicPr>
          <p:cNvPr id="5" name="Picture 4" descr="A close-up of a message&#10;&#10;Description automatically generated">
            <a:extLst>
              <a:ext uri="{FF2B5EF4-FFF2-40B4-BE49-F238E27FC236}">
                <a16:creationId xmlns:a16="http://schemas.microsoft.com/office/drawing/2014/main" id="{C3C046D0-1E26-A927-8842-1E2EB9CB0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398" y="3169361"/>
            <a:ext cx="2619375" cy="2371725"/>
          </a:xfrm>
          <a:prstGeom prst="rect">
            <a:avLst/>
          </a:prstGeom>
        </p:spPr>
      </p:pic>
      <p:pic>
        <p:nvPicPr>
          <p:cNvPr id="6" name="Picture 5" descr="A blue paper with black text&#10;&#10;Description automatically generated">
            <a:extLst>
              <a:ext uri="{FF2B5EF4-FFF2-40B4-BE49-F238E27FC236}">
                <a16:creationId xmlns:a16="http://schemas.microsoft.com/office/drawing/2014/main" id="{D959F0F0-5186-868F-855C-B70071DEC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083" y="3169361"/>
            <a:ext cx="2505075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2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1D6FC-5012-CD68-FA34-C328B4C60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NIST Control Family Implementations</a:t>
            </a:r>
          </a:p>
        </p:txBody>
      </p:sp>
      <p:pic>
        <p:nvPicPr>
          <p:cNvPr id="4" name="Content Placeholder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DCA7FF8C-D596-633D-1E50-163DB7C30F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2170" y="2332026"/>
            <a:ext cx="4287658" cy="3567118"/>
          </a:xfrm>
        </p:spPr>
      </p:pic>
    </p:spTree>
    <p:extLst>
      <p:ext uri="{BB962C8B-B14F-4D97-AF65-F5344CB8AC3E}">
        <p14:creationId xmlns:p14="http://schemas.microsoft.com/office/powerpoint/2010/main" val="2085326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C7C2C-B1B7-A842-44DE-366192F35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61AEA-D7E1-8F48-CAE4-D6DF830B0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About Mayo Clinic. Mayo Clinic Proceedings. (n.d.). </a:t>
            </a: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  </a:t>
            </a:r>
            <a:r>
              <a:rPr lang="en-US" sz="1600" dirty="0">
                <a:ea typeface="+mn-lt"/>
                <a:cs typeface="+mn-lt"/>
                <a:hlinkClick r:id="rId2"/>
              </a:rPr>
              <a:t>https://www.mayoclinicproceedings.org/content/aboutmayo</a:t>
            </a:r>
            <a:r>
              <a:rPr lang="en-US" sz="1600" dirty="0">
                <a:ea typeface="+mn-lt"/>
                <a:cs typeface="+mn-lt"/>
              </a:rPr>
              <a:t> </a:t>
            </a:r>
            <a:endParaRPr lang="en-US" sz="1600"/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About Mayo Clinic Research. (2024). Mayo Clinic. Retrieved October 31, 2024, from </a:t>
            </a: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  </a:t>
            </a:r>
            <a:r>
              <a:rPr lang="en-US" sz="1600" dirty="0">
                <a:ea typeface="+mn-lt"/>
                <a:cs typeface="+mn-lt"/>
                <a:hlinkClick r:id="rId3"/>
              </a:rPr>
              <a:t>https://www.mayo.edu/research/about/overview</a:t>
            </a:r>
            <a:r>
              <a:rPr lang="en-US" sz="1600" dirty="0">
                <a:ea typeface="+mn-lt"/>
                <a:cs typeface="+mn-lt"/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About us. (n.d.). Mayo Clinic. </a:t>
            </a:r>
            <a:r>
              <a:rPr lang="en-US" sz="1600" dirty="0">
                <a:ea typeface="+mn-lt"/>
                <a:cs typeface="+mn-lt"/>
                <a:hlinkClick r:id="rId4"/>
              </a:rPr>
              <a:t>https://www.mayoclinic.org/about-mayo-clinic</a:t>
            </a:r>
            <a:endParaRPr lang="en-US" sz="16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Health Insurance Portability and Accountability Act of 1996 | CMS. (n.d.). </a:t>
            </a: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 </a:t>
            </a:r>
            <a:r>
              <a:rPr lang="en-US" sz="1600" dirty="0">
                <a:ea typeface="+mn-lt"/>
                <a:cs typeface="+mn-lt"/>
                <a:hlinkClick r:id="rId5"/>
              </a:rPr>
              <a:t>https://www.cms.gov/about-cms/information-systems/privacy/health-insurance-portability-and-accountability-act-1996#:~:text=The%20Privacy%20Rule%20of%20the,and%20other%20personal%20health%20information.</a:t>
            </a:r>
            <a:r>
              <a:rPr lang="en-US" sz="1600" dirty="0">
                <a:ea typeface="+mn-lt"/>
                <a:cs typeface="+mn-lt"/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 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935954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C7C2C-B1B7-A842-44DE-366192F35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61AEA-D7E1-8F48-CAE4-D6DF830B0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NIST Cybersecurity Framework | NIST. (2024, September 27). NIST. 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 </a:t>
            </a:r>
            <a:r>
              <a:rPr lang="en-US" dirty="0">
                <a:ea typeface="+mn-lt"/>
                <a:cs typeface="+mn-lt"/>
                <a:hlinkClick r:id="rId2"/>
              </a:rPr>
              <a:t>https://www.nist.gov/itl/smallbusinesscyber/nist-cybersecurity-framework-0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Shriram Vasudevan. (2022, April 14). OSI layer and corresponding cyber attacks and threats [Video]. YouTube. 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 </a:t>
            </a:r>
            <a:r>
              <a:rPr lang="en-US" dirty="0">
                <a:ea typeface="+mn-lt"/>
                <a:cs typeface="+mn-lt"/>
                <a:hlinkClick r:id="rId3"/>
              </a:rPr>
              <a:t>https://www.youtube.com/watch?v=FqP4QiyKh4M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Top-ranked hospital in the U.S. - About Us - Mayo Clinic. (n.d.).    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  </a:t>
            </a:r>
            <a:r>
              <a:rPr lang="en-US" dirty="0">
                <a:ea typeface="+mn-lt"/>
                <a:cs typeface="+mn-lt"/>
                <a:hlinkClick r:id="rId4"/>
              </a:rPr>
              <a:t>https://www.mayoclinic.org/about-mayo-clinic/quality/top-ranked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U.S. and International Locations. (n.d.). Mayo Clinic.   </a:t>
            </a:r>
            <a:endParaRPr lang="en-US" dirty="0"/>
          </a:p>
          <a:p>
            <a:pPr lvl="1"/>
            <a:r>
              <a:rPr lang="en-US" i="0" dirty="0"/>
              <a:t> </a:t>
            </a:r>
            <a:r>
              <a:rPr lang="en-US" i="0" dirty="0">
                <a:ea typeface="+mn-lt"/>
                <a:cs typeface="+mn-lt"/>
                <a:hlinkClick r:id="rId5"/>
              </a:rPr>
              <a:t>https://www.mayoclinic.org/locations</a:t>
            </a:r>
            <a:r>
              <a:rPr lang="en-US" i="0" dirty="0">
                <a:ea typeface="+mn-lt"/>
                <a:cs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71918334"/>
      </p:ext>
    </p:extLst>
  </p:cSld>
  <p:clrMapOvr>
    <a:masterClrMapping/>
  </p:clrMapOvr>
</p:sld>
</file>

<file path=ppt/theme/theme1.xml><?xml version="1.0" encoding="utf-8"?>
<a:theme xmlns:a="http://schemas.openxmlformats.org/drawingml/2006/main" name="RegattaVTI">
  <a:themeElements>
    <a:clrScheme name="AnalogousFromDarkSeedLeftStep">
      <a:dk1>
        <a:srgbClr val="000000"/>
      </a:dk1>
      <a:lt1>
        <a:srgbClr val="FFFFFF"/>
      </a:lt1>
      <a:dk2>
        <a:srgbClr val="1C2031"/>
      </a:dk2>
      <a:lt2>
        <a:srgbClr val="F0F3F2"/>
      </a:lt2>
      <a:accent1>
        <a:srgbClr val="CA458E"/>
      </a:accent1>
      <a:accent2>
        <a:srgbClr val="B934B4"/>
      </a:accent2>
      <a:accent3>
        <a:srgbClr val="9845CA"/>
      </a:accent3>
      <a:accent4>
        <a:srgbClr val="5238BA"/>
      </a:accent4>
      <a:accent5>
        <a:srgbClr val="4562CA"/>
      </a:accent5>
      <a:accent6>
        <a:srgbClr val="3488B9"/>
      </a:accent6>
      <a:hlink>
        <a:srgbClr val="3F45BF"/>
      </a:hlink>
      <a:folHlink>
        <a:srgbClr val="7F7F7F"/>
      </a:folHlink>
    </a:clrScheme>
    <a:fontScheme name="Walbaum Display">
      <a:majorFont>
        <a:latin typeface="Walbaum Display"/>
        <a:ea typeface=""/>
        <a:cs typeface=""/>
      </a:majorFont>
      <a:minorFont>
        <a:latin typeface="Walbaum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gattaVTI" id="{FFC3BCE5-6357-41D1-8E67-3F85B69D7E86}" vid="{893A6374-FE17-48E5-8B62-678C1B11AA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550</Words>
  <Application>Microsoft Office PowerPoint</Application>
  <PresentationFormat>Widescreen</PresentationFormat>
  <Paragraphs>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Walbaum Display</vt:lpstr>
      <vt:lpstr>RegattaVTI</vt:lpstr>
      <vt:lpstr>Mayo clinic - phase 3</vt:lpstr>
      <vt:lpstr>About Mayo Clinic</vt:lpstr>
      <vt:lpstr>Mayo Clinic Locations &amp; Network Type Introduction</vt:lpstr>
      <vt:lpstr>Mayo Clinic's Organizational Chart</vt:lpstr>
      <vt:lpstr>Mayo Clinic's Network Diagram</vt:lpstr>
      <vt:lpstr>Core Functions of NIST Cybersecurity Framework</vt:lpstr>
      <vt:lpstr>Initial Protections of Mayo Clinic's Enterprise Infrastructure</vt:lpstr>
      <vt:lpstr>NIST Control Family Implementations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Olamikun Folabomi Ramon Asorona</cp:lastModifiedBy>
  <cp:revision>67</cp:revision>
  <dcterms:created xsi:type="dcterms:W3CDTF">2024-10-31T12:00:07Z</dcterms:created>
  <dcterms:modified xsi:type="dcterms:W3CDTF">2025-12-01T21:24:24Z</dcterms:modified>
</cp:coreProperties>
</file>